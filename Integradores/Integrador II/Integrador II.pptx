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Integrador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BDEFB"/>
                </a:solidFill>
              </a:rPr>
              <a:t>Matemática y Programación en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2461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Hábitos Deportivos en el gimnasio OnFit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Teoría de Conjuntos  |  Diagrama de 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DEFB"/>
                </a:solidFill>
              </a:rPr>
              <a:t>Franco Kaddour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Problemática Abordada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7E"/>
                </a:solidFill>
              </a:rPr>
              <a:t>Situación real analizada: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</a:rPr>
              <a:t>El gimnasio OnFit cuenta con 120 socios activos y ofrece tres actividades principales: musculación, clases grupales y entrenamiento funcional. La dirección del gimnasio necesita conocer exactamente cuántos socios participan en cada combinación de actividades para optimizar horarios, personal e infraestructura.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7E"/>
                </a:solidFill>
              </a:rPr>
              <a:t>¿Por qué se eligió este tema?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• Es una situación cotidiana con intersecciones naturales y reales.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Los datos son verificables y fácilmente comprensibles.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Permite demostrar el valor práctico de la Teoría de Conjuntos.</a:t>
            </a:r>
          </a:p>
          <a:p>
            <a:pPr algn="l"/>
            <a:r>
              <a:rPr sz="1400" b="0">
                <a:solidFill>
                  <a:srgbClr val="212121"/>
                </a:solidFill>
              </a:rPr>
              <a:t>• La solución tiene aplicación directa en la gestión del gimnasio.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Universo y Conjuntos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8412480" cy="822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U = Totalidad de socios activos del gimnasio Deportivo "OnFit"  →  |U| = 120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841248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957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976D2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= Socios que practican musculación en el gimnasio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423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976D2"/>
                </a:solidFill>
              </a:rPr>
              <a:t>|A| = 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8412480" cy="7772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101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62828"/>
                </a:solidFill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= Socios que asisten a clases grupales (aeróbics, zumba, spinning)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3337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62828"/>
                </a:solidFill>
              </a:rPr>
              <a:t>|B| = 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2245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519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= Socios que realizan entrenamiento funcional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42519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E7D32"/>
                </a:solidFill>
              </a:rPr>
              <a:t>|C| =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Datos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Cardinalidades individuales: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</a:rPr>
              <a:t>|U| = 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76D2"/>
                </a:solidFill>
              </a:rPr>
              <a:t>|A| = 65  (musculación)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62828"/>
                </a:solidFill>
              </a:rPr>
              <a:t>|B| = 55  (clases grupales)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7D32"/>
                </a:solidFill>
              </a:rPr>
              <a:t>|C| = 40  (funcional)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Intersecciones: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1B9A"/>
                </a:solidFill>
              </a:rPr>
              <a:t>|A ∩ B| =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31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5100"/>
                </a:solidFill>
              </a:rPr>
              <a:t>|A ∩ C| =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7D32"/>
                </a:solidFill>
              </a:rPr>
              <a:t>|B ∩ C| =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29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0E4F"/>
                </a:solidFill>
              </a:rPr>
              <a:t>|A ∩ B ∩ C| =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280160"/>
            <a:ext cx="45720" cy="2743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5669280"/>
            <a:ext cx="8412480" cy="640080"/>
          </a:xfrm>
          <a:prstGeom prst="rect">
            <a:avLst/>
          </a:prstGeom>
          <a:solidFill>
            <a:srgbClr val="FFF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Datos recolectados mediante encuesta a los 120 socios activos del gimnasio.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Resolución Matemática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</a:rPr>
              <a:t>Fórmula clave: Descomposición por regiones exclusivas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</a:rPr>
              <a:t>Solo A∩B (sin 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22 − 6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830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A1B9A"/>
                </a:solidFill>
              </a:rPr>
              <a:t>=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04288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500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Solo A∩C (sin 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500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18 − 6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5000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65100"/>
                </a:solidFill>
              </a:rPr>
              <a:t>=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71216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Solo B∩C (sin 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169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15 − 6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91693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=  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38144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8386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</a:rPr>
              <a:t>Solo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48386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65 − 16 − 12 − 6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48386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976D2"/>
                </a:solidFill>
              </a:rPr>
              <a:t>= 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05072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507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</a:rPr>
              <a:t>Solo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0507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55 − 16 −  9 − 6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05079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62828"/>
                </a:solidFill>
              </a:rPr>
              <a:t>= 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17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Solo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617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40 − 12 −  9 − 6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617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= 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38928"/>
            <a:ext cx="8412480" cy="502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184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0E4F"/>
                </a:solidFill>
              </a:rPr>
              <a:t>A∩B∩C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184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1846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880E4F"/>
                </a:solidFill>
              </a:rPr>
              <a:t>=  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97296"/>
            <a:ext cx="841248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870448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Total en al menos un conjunto:  31+24+13+16+12+9+6 = 111   →   Fuera: 120−111 =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Diagrama de Venn</a:t>
            </a:r>
          </a:p>
        </p:txBody>
      </p:sp>
      <p:pic>
        <p:nvPicPr>
          <p:cNvPr id="4" name="Picture 3" descr="diagrama_ve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Diagrama generado automáticamente por el programa Python.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El Programa en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</a:rPr>
              <a:t>Funciones del programa  (venn_conjuntos.py):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8412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mostrar_bienvenida()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7830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Encabezado del programa en consola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76856"/>
            <a:ext cx="8412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2257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ingresar_entero()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225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Solicita enteros con validación de tipo y rango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16352"/>
            <a:ext cx="8412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6207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ingresar_datos()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8620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Guía al usuario en 5 pasos para ingresar todos los datos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55848"/>
            <a:ext cx="8412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0156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calcular_regiones()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401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Aplica las fórmulas y devuelve las 8 regiones del diagrama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95344"/>
            <a:ext cx="8412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4106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validar_resultados()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9410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Detecta valores negativos (datos inconsistentes)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34840"/>
            <a:ext cx="8412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805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mostrar_resultados()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4805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Presenta una tabla organizada con todos los valores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74336"/>
            <a:ext cx="8412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0200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graficar_venn()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02005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Genera el diagrama de Venn con matplotlib y lo guarda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513832"/>
            <a:ext cx="841248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55955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</a:rPr>
              <a:t>main()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5595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Función coordinadora que orquesta el flujo completo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Herramientas de IA Utilizadas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8412480" cy="1188720"/>
          </a:xfrm>
          <a:prstGeom prst="rect">
            <a:avLst/>
          </a:prstGeom>
          <a:solidFill>
            <a:srgbClr val="E8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A37F"/>
                </a:solidFill>
              </a:rPr>
              <a:t>ChatGPT (OpenAI)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Brainstorming del tema, comprensión conceptual de conjuntos, validación de coherencia de datos.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841248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285F4"/>
                </a:solidFill>
              </a:rPr>
              <a:t>Google Gemini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Verificación matemática con el Principio de Inclusión-Exclusión, interpretación de resultados.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solidFill>
            <a:srgbClr val="F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7845"/>
                </a:solidFill>
              </a:rPr>
              <a:t>Claude (Anthropic)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Estructura y desarrollo del programa Python, revisión de código, generación de documentos.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349240"/>
            <a:ext cx="841248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7E"/>
                </a:solidFill>
              </a:rPr>
              <a:t>Reflexión: ChatGPT para pensar  |  Gemini para verificar  |  Claude para construir
Las IA no reemplazan la comprensión: son herramientas que potencian el aprendizaje.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